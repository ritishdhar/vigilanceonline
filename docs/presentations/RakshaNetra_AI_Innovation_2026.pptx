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a410055f72426a" /><Relationship Type="http://schemas.openxmlformats.org/officeDocument/2006/relationships/extended-properties" Target="/docProps/app.xml" Id="R227d1acc3c904347" /><Relationship Type="http://schemas.openxmlformats.org/officeDocument/2006/relationships/officeDocument" Target="/ppt/presentation.xml" Id="Rb07bf66e19624b1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cdde3945db949da"/>
  </p:sldMasterIdLst>
  <p:notesMasterIdLst>
    <p:notesMasterId xmlns:r="http://schemas.openxmlformats.org/officeDocument/2006/relationships" r:id="R396bde3e813e476c"/>
  </p:notesMasterIdLst>
  <p:sldIdLst>
    <p:sldId xmlns:r="http://schemas.openxmlformats.org/officeDocument/2006/relationships" id="256" r:id="R5f820c067b184fd3"/>
    <p:sldId xmlns:r="http://schemas.openxmlformats.org/officeDocument/2006/relationships" id="257" r:id="Rfd6da7cfa2dd4922"/>
    <p:sldId xmlns:r="http://schemas.openxmlformats.org/officeDocument/2006/relationships" id="258" r:id="Rcf3e8f750b9449fa"/>
    <p:sldId xmlns:r="http://schemas.openxmlformats.org/officeDocument/2006/relationships" id="259" r:id="R9e5bf8a7b329424b"/>
    <p:sldId xmlns:r="http://schemas.openxmlformats.org/officeDocument/2006/relationships" id="260" r:id="Rd2867171d06749b3"/>
    <p:sldId xmlns:r="http://schemas.openxmlformats.org/officeDocument/2006/relationships" id="261" r:id="Rcf48c52e7a934296"/>
  </p:sldIdLst>
  <p:sldSz cx="12192000" cy="6858000"/>
  <p:notesSz cx="6858000" cy="9144000"/>
  <p:embeddedFontLst>
    <p:embeddedFont>
      <p:font typeface="Oswald"/>
      <p:regular xmlns:r="http://schemas.openxmlformats.org/officeDocument/2006/relationships" r:id="Ra933b526ae8043a2"/>
      <p:bold xmlns:r="http://schemas.openxmlformats.org/officeDocument/2006/relationships" r:id="Rd976b5aeb1884a53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b87423c9124f7c" /><Relationship Type="http://schemas.openxmlformats.org/officeDocument/2006/relationships/slideMaster" Target="/ppt/slideMasters/slideMaster1.xml" Id="Rbcdde3945db949da" /><Relationship Type="http://schemas.openxmlformats.org/officeDocument/2006/relationships/notesMaster" Target="/ppt/notesMasters/notesMaster1.xml" Id="R396bde3e813e476c" /><Relationship Type="http://schemas.openxmlformats.org/officeDocument/2006/relationships/presProps" Target="/ppt/presProps.xml" Id="Ra2fb86bdc11442fc" /><Relationship Type="http://schemas.openxmlformats.org/officeDocument/2006/relationships/tableStyles" Target="/ppt/tableStyles.xml" Id="R5bf6e30defb34625" /><Relationship Type="http://schemas.openxmlformats.org/officeDocument/2006/relationships/font" Target="/ppt/fonts/font.dat" Id="Ra933b526ae8043a2" /><Relationship Type="http://schemas.openxmlformats.org/officeDocument/2006/relationships/font" Target="/ppt/fonts/font2.dat" Id="Rd976b5aeb1884a53" /><Relationship Type="http://schemas.openxmlformats.org/officeDocument/2006/relationships/slide" Target="/ppt/slides/slide1.xml" Id="R5f820c067b184fd3" /><Relationship Type="http://schemas.openxmlformats.org/officeDocument/2006/relationships/slide" Target="/ppt/slides/slide2.xml" Id="Rfd6da7cfa2dd4922" /><Relationship Type="http://schemas.openxmlformats.org/officeDocument/2006/relationships/slide" Target="/ppt/slides/slide3.xml" Id="Rcf3e8f750b9449fa" /><Relationship Type="http://schemas.openxmlformats.org/officeDocument/2006/relationships/slide" Target="/ppt/slides/slide4.xml" Id="R9e5bf8a7b329424b" /><Relationship Type="http://schemas.openxmlformats.org/officeDocument/2006/relationships/slide" Target="/ppt/slides/slide5.xml" Id="Rd2867171d06749b3" /><Relationship Type="http://schemas.openxmlformats.org/officeDocument/2006/relationships/slide" Target="/ppt/slides/slide6.xml" Id="Rcf48c52e7a9342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2900df749e45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db5c8d4a334bee" /><Relationship Type="http://schemas.openxmlformats.org/officeDocument/2006/relationships/notesMaster" Target="/ppt/notesMasters/notesMaster1.xml" Id="R1588225272594a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b35b1e860d429d" /><Relationship Type="http://schemas.openxmlformats.org/officeDocument/2006/relationships/notesMaster" Target="/ppt/notesMasters/notesMaster1.xml" Id="Rcdbac51d2ee440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fd037af5ea4584" /><Relationship Type="http://schemas.openxmlformats.org/officeDocument/2006/relationships/notesMaster" Target="/ppt/notesMasters/notesMaster1.xml" Id="R1b2a7d336b8f49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69f7345e524100" /><Relationship Type="http://schemas.openxmlformats.org/officeDocument/2006/relationships/notesMaster" Target="/ppt/notesMasters/notesMaster1.xml" Id="Radc6aa6b79fc45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9f34e840654646" /><Relationship Type="http://schemas.openxmlformats.org/officeDocument/2006/relationships/notesMaster" Target="/ppt/notesMasters/notesMaster1.xml" Id="Rfb54208b872842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b9140d2fc64bc2" /><Relationship Type="http://schemas.openxmlformats.org/officeDocument/2006/relationships/notesMaster" Target="/ppt/notesMasters/notesMaster1.xml" Id="R475a93d683924c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c15f1522a40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a55ac63f140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e731b78354c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825d58bc64d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be28c52114d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ef44e33db4af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1373204f048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ca8958e2f4e1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33126e8954df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ad9bb70d142b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6c6ff047645a0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7">
            <a:extLst xmlns:a="http://schemas.openxmlformats.org/drawingml/2006/main">
              <a:ext uri="{FF2B5EF4-FFF2-40B4-BE49-F238E27FC236}">
                <a16:creationId xmlns:a16="http://schemas.microsoft.com/office/drawing/2014/main" id="{F41024B6-7538-44C3-9AE6-B92D0A8AA6E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7">
            <a:extLst xmlns:a="http://schemas.openxmlformats.org/drawingml/2006/main">
              <a:ext uri="{FF2B5EF4-FFF2-40B4-BE49-F238E27FC236}">
                <a16:creationId xmlns:a16="http://schemas.microsoft.com/office/drawing/2014/main" id="{5D109B8B-67FF-4DF3-B6B0-A1A2724A04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8" name="Google Shape;18;p7">
            <a:extLst xmlns:a="http://schemas.openxmlformats.org/drawingml/2006/main">
              <a:ext uri="{FF2B5EF4-FFF2-40B4-BE49-F238E27FC236}">
                <a16:creationId xmlns:a16="http://schemas.microsoft.com/office/drawing/2014/main" id="{CE502DD3-7D1A-4D8D-9371-DD584ACCBB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7">
            <a:extLst xmlns:a="http://schemas.openxmlformats.org/drawingml/2006/main">
              <a:ext uri="{FF2B5EF4-FFF2-40B4-BE49-F238E27FC236}">
                <a16:creationId xmlns:a16="http://schemas.microsoft.com/office/drawing/2014/main" id="{3EDBC94D-13A7-4312-B583-FE24D52E73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7">
            <a:extLst xmlns:a="http://schemas.openxmlformats.org/drawingml/2006/main">
              <a:ext uri="{FF2B5EF4-FFF2-40B4-BE49-F238E27FC236}">
                <a16:creationId xmlns:a16="http://schemas.microsoft.com/office/drawing/2014/main" id="{21509D54-75B9-4EA4-A901-B020BD105F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8">
            <a:extLst xmlns:a="http://schemas.openxmlformats.org/drawingml/2006/main">
              <a:ext uri="{FF2B5EF4-FFF2-40B4-BE49-F238E27FC236}">
                <a16:creationId xmlns:a16="http://schemas.microsoft.com/office/drawing/2014/main" id="{030CFDE7-2D86-4730-A372-428E719C5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8">
            <a:extLst xmlns:a="http://schemas.openxmlformats.org/drawingml/2006/main">
              <a:ext uri="{FF2B5EF4-FFF2-40B4-BE49-F238E27FC236}">
                <a16:creationId xmlns:a16="http://schemas.microsoft.com/office/drawing/2014/main" id="{DD69920B-0EE6-4A8B-9BD8-AB43BF8743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8">
            <a:extLst xmlns:a="http://schemas.openxmlformats.org/drawingml/2006/main">
              <a:ext uri="{FF2B5EF4-FFF2-40B4-BE49-F238E27FC236}">
                <a16:creationId xmlns:a16="http://schemas.microsoft.com/office/drawing/2014/main" id="{12F9FFE4-D96D-4F31-80DD-3DEFD514D3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8">
            <a:extLst xmlns:a="http://schemas.openxmlformats.org/drawingml/2006/main">
              <a:ext uri="{FF2B5EF4-FFF2-40B4-BE49-F238E27FC236}">
                <a16:creationId xmlns:a16="http://schemas.microsoft.com/office/drawing/2014/main" id="{E06738C0-454E-4C76-B716-3217130B5F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064B5D2E-3B65-45B3-885E-A6B4AD8A87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9">
            <a:extLst xmlns:a="http://schemas.openxmlformats.org/drawingml/2006/main">
              <a:ext uri="{FF2B5EF4-FFF2-40B4-BE49-F238E27FC236}">
                <a16:creationId xmlns:a16="http://schemas.microsoft.com/office/drawing/2014/main" id="{8F0C5586-7C55-4240-B023-12D96CA1AC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9">
            <a:extLst xmlns:a="http://schemas.openxmlformats.org/drawingml/2006/main">
              <a:ext uri="{FF2B5EF4-FFF2-40B4-BE49-F238E27FC236}">
                <a16:creationId xmlns:a16="http://schemas.microsoft.com/office/drawing/2014/main" id="{290B1BC5-D034-4F84-B0A8-85E8BDF864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9">
            <a:extLst xmlns:a="http://schemas.openxmlformats.org/drawingml/2006/main">
              <a:ext uri="{FF2B5EF4-FFF2-40B4-BE49-F238E27FC236}">
                <a16:creationId xmlns:a16="http://schemas.microsoft.com/office/drawing/2014/main" id="{1B31E30D-C0B5-45C2-B10B-845695655E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03DEBE15-40EC-4769-ADA2-7C45754CB4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9">
            <a:extLst xmlns:a="http://schemas.openxmlformats.org/drawingml/2006/main">
              <a:ext uri="{FF2B5EF4-FFF2-40B4-BE49-F238E27FC236}">
                <a16:creationId xmlns:a16="http://schemas.microsoft.com/office/drawing/2014/main" id="{5DE56776-CBD4-43A8-8D02-E48C8BE31D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10">
            <a:extLst xmlns:a="http://schemas.openxmlformats.org/drawingml/2006/main">
              <a:ext uri="{FF2B5EF4-FFF2-40B4-BE49-F238E27FC236}">
                <a16:creationId xmlns:a16="http://schemas.microsoft.com/office/drawing/2014/main" id="{BD727C51-05F5-4A8D-9F4F-E6A390CD8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10">
            <a:extLst xmlns:a="http://schemas.openxmlformats.org/drawingml/2006/main">
              <a:ext uri="{FF2B5EF4-FFF2-40B4-BE49-F238E27FC236}">
                <a16:creationId xmlns:a16="http://schemas.microsoft.com/office/drawing/2014/main" id="{C9E46BDE-94A9-4D61-8DBC-937A0165AF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6" name="Google Shape;36;p10">
            <a:extLst xmlns:a="http://schemas.openxmlformats.org/drawingml/2006/main">
              <a:ext uri="{FF2B5EF4-FFF2-40B4-BE49-F238E27FC236}">
                <a16:creationId xmlns:a16="http://schemas.microsoft.com/office/drawing/2014/main" id="{21F24592-A91A-4D71-BCBF-6718B679D3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34AE6151-2269-4C59-9C1D-DCEAEFD02E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577BB30B-DD22-49BB-AF23-F34B2D66B7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B8B81FA0-6837-49B9-B893-63431F8967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11">
            <a:extLst xmlns:a="http://schemas.openxmlformats.org/drawingml/2006/main">
              <a:ext uri="{FF2B5EF4-FFF2-40B4-BE49-F238E27FC236}">
                <a16:creationId xmlns:a16="http://schemas.microsoft.com/office/drawing/2014/main" id="{D897428F-EDDE-43FC-82D3-A30FB01A60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11">
            <a:extLst xmlns:a="http://schemas.openxmlformats.org/drawingml/2006/main">
              <a:ext uri="{FF2B5EF4-FFF2-40B4-BE49-F238E27FC236}">
                <a16:creationId xmlns:a16="http://schemas.microsoft.com/office/drawing/2014/main" id="{0B1B644B-AEE5-4148-853A-5404372A38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11">
            <a:extLst xmlns:a="http://schemas.openxmlformats.org/drawingml/2006/main">
              <a:ext uri="{FF2B5EF4-FFF2-40B4-BE49-F238E27FC236}">
                <a16:creationId xmlns:a16="http://schemas.microsoft.com/office/drawing/2014/main" id="{054C07FD-9577-4F1B-AEA7-920E8FEA09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4" name="Google Shape;44;p11">
            <a:extLst xmlns:a="http://schemas.openxmlformats.org/drawingml/2006/main">
              <a:ext uri="{FF2B5EF4-FFF2-40B4-BE49-F238E27FC236}">
                <a16:creationId xmlns:a16="http://schemas.microsoft.com/office/drawing/2014/main" id="{707D6911-59E7-4205-8F14-60D89362D1F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2E8B7B64-F2B6-471C-9C29-2BCEC0FCA59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8057A29D-63D3-46C4-ADBC-64BE8364FF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4D4434C7-CAA7-487D-8EFB-FA808EE7DB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11">
            <a:extLst xmlns:a="http://schemas.openxmlformats.org/drawingml/2006/main">
              <a:ext uri="{FF2B5EF4-FFF2-40B4-BE49-F238E27FC236}">
                <a16:creationId xmlns:a16="http://schemas.microsoft.com/office/drawing/2014/main" id="{35D6D7CD-C45A-409E-9C74-BECED490F2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D71A1FB4-BBB5-474E-9B1C-1D55AAB110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12">
            <a:extLst xmlns:a="http://schemas.openxmlformats.org/drawingml/2006/main">
              <a:ext uri="{FF2B5EF4-FFF2-40B4-BE49-F238E27FC236}">
                <a16:creationId xmlns:a16="http://schemas.microsoft.com/office/drawing/2014/main" id="{D815B6EA-3808-47E7-BC28-321024861E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12">
            <a:extLst xmlns:a="http://schemas.openxmlformats.org/drawingml/2006/main">
              <a:ext uri="{FF2B5EF4-FFF2-40B4-BE49-F238E27FC236}">
                <a16:creationId xmlns:a16="http://schemas.microsoft.com/office/drawing/2014/main" id="{B4CDA8F6-3C00-49EA-978A-7FB3A7ADB2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12">
            <a:extLst xmlns:a="http://schemas.openxmlformats.org/drawingml/2006/main">
              <a:ext uri="{FF2B5EF4-FFF2-40B4-BE49-F238E27FC236}">
                <a16:creationId xmlns:a16="http://schemas.microsoft.com/office/drawing/2014/main" id="{C96ACF4F-386F-4C6D-B32A-2C9B35E85D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30E0A305-0C93-442E-871B-1C90C4168A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095F9429-159D-4566-AD6A-D1DC30E64F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DEBF04BF-240D-4E3B-B7D5-84052ED456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EB570113-9DE2-4BF0-B1E1-C86529D1D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ED3FC2A5-26EF-45A6-9710-8E3F26C413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90DA0582-D88E-41E8-AC5B-8B86F86B4C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08006CED-C8E5-4FC1-BBAC-142D965F5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605CEF8E-22E4-4463-AA2B-00B0D88AB2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3F93D65A-00EC-4FAE-A388-F6123134A1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B94E64F8-2C5C-4580-9672-9FA32A090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1F013F48-C497-48E3-8FBC-18C4ECC7B2B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35636D4C-2FD6-4E00-82D7-787BF43F7D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025B20C6-3D97-4A73-B99B-8AF8022237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506C73D2-066D-4FD9-83B2-2EF6CACB30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0068FB44-9237-43A6-BD5B-D506DA5837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6">
            <a:extLst xmlns:a="http://schemas.openxmlformats.org/drawingml/2006/main">
              <a:ext uri="{FF2B5EF4-FFF2-40B4-BE49-F238E27FC236}">
                <a16:creationId xmlns:a16="http://schemas.microsoft.com/office/drawing/2014/main" id="{9D35DA84-939C-4DD7-ADBF-AA2B37BC8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94F30710-C08C-427D-A0E8-950CC4BF20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07CBEDE8-2DFB-4057-8280-03337BFBB3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4755942D-39D3-4519-9EDD-0572AA6B39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9E6B1BFE-6623-4D7D-B71C-E2E117BBD4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7">
            <a:extLst xmlns:a="http://schemas.openxmlformats.org/drawingml/2006/main">
              <a:ext uri="{FF2B5EF4-FFF2-40B4-BE49-F238E27FC236}">
                <a16:creationId xmlns:a16="http://schemas.microsoft.com/office/drawing/2014/main" id="{793E5BCF-94EC-48BA-825E-7B143440B2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17">
            <a:extLst xmlns:a="http://schemas.openxmlformats.org/drawingml/2006/main">
              <a:ext uri="{FF2B5EF4-FFF2-40B4-BE49-F238E27FC236}">
                <a16:creationId xmlns:a16="http://schemas.microsoft.com/office/drawing/2014/main" id="{E339A7F9-1E89-4B12-B89F-6C8DBE0F51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1" name="Google Shape;81;p17">
            <a:extLst xmlns:a="http://schemas.openxmlformats.org/drawingml/2006/main">
              <a:ext uri="{FF2B5EF4-FFF2-40B4-BE49-F238E27FC236}">
                <a16:creationId xmlns:a16="http://schemas.microsoft.com/office/drawing/2014/main" id="{1401F473-58DE-4372-B11E-BC958C7E0C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2C160077-7A10-4924-9FF7-097F752A0F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EDDB77C2-30A3-4F0F-9B59-7EBF25AEC6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603ebc02d9b146f1" /><Relationship Type="http://schemas.openxmlformats.org/officeDocument/2006/relationships/theme" Target="/ppt/slideMasters/theme/theme2.xml" Id="Rfdb7847bc7b743bc" /><Relationship Type="http://schemas.openxmlformats.org/officeDocument/2006/relationships/slideLayout" Target="/ppt/slideLayouts/slideLayout1.xml" Id="R3521ceec42a4424d" /><Relationship Type="http://schemas.openxmlformats.org/officeDocument/2006/relationships/slideLayout" Target="/ppt/slideLayouts/slideLayout2.xml" Id="R621ea50da4854487" /><Relationship Type="http://schemas.openxmlformats.org/officeDocument/2006/relationships/slideLayout" Target="/ppt/slideLayouts/slideLayout3.xml" Id="R4d0500ceba1a4c4b" /><Relationship Type="http://schemas.openxmlformats.org/officeDocument/2006/relationships/slideLayout" Target="/ppt/slideLayouts/slideLayout4.xml" Id="R5fba825435bf45cf" /><Relationship Type="http://schemas.openxmlformats.org/officeDocument/2006/relationships/slideLayout" Target="/ppt/slideLayouts/slideLayout5.xml" Id="R4f2d721cabce4d24" /><Relationship Type="http://schemas.openxmlformats.org/officeDocument/2006/relationships/slideLayout" Target="/ppt/slideLayouts/slideLayout6.xml" Id="Re8ac85b3163243fe" /><Relationship Type="http://schemas.openxmlformats.org/officeDocument/2006/relationships/slideLayout" Target="/ppt/slideLayouts/slideLayout7.xml" Id="R1c30a6681aa947e0" /><Relationship Type="http://schemas.openxmlformats.org/officeDocument/2006/relationships/slideLayout" Target="/ppt/slideLayouts/slideLayout8.xml" Id="R7c6a5e10b13c4022" /><Relationship Type="http://schemas.openxmlformats.org/officeDocument/2006/relationships/slideLayout" Target="/ppt/slideLayouts/slideLayout9.xml" Id="Rf4d33f264e204eb3" /><Relationship Type="http://schemas.openxmlformats.org/officeDocument/2006/relationships/slideLayout" Target="/ppt/slideLayouts/slideLayout10.xml" Id="R81d7da1415d146dd" /><Relationship Type="http://schemas.openxmlformats.org/officeDocument/2006/relationships/slideLayout" Target="/ppt/slideLayouts/slideLayout11.xml" Id="Rf901c6eef15442f7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03ebc02d9b146f1">
            <a:alphaModFix amt="10000"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6">
            <a:extLst xmlns:a="http://schemas.openxmlformats.org/drawingml/2006/main">
              <a:ext uri="{FF2B5EF4-FFF2-40B4-BE49-F238E27FC236}">
                <a16:creationId xmlns:a16="http://schemas.microsoft.com/office/drawing/2014/main" id="{C311AC83-BE47-42CD-A728-B39D088B6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1" name="Google Shape;11;p6">
            <a:extLst xmlns:a="http://schemas.openxmlformats.org/drawingml/2006/main">
              <a:ext uri="{FF2B5EF4-FFF2-40B4-BE49-F238E27FC236}">
                <a16:creationId xmlns:a16="http://schemas.microsoft.com/office/drawing/2014/main" id="{0E6FF17A-DE6B-4508-B9C3-6716AAFE34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6">
            <a:extLst xmlns:a="http://schemas.openxmlformats.org/drawingml/2006/main">
              <a:ext uri="{FF2B5EF4-FFF2-40B4-BE49-F238E27FC236}">
                <a16:creationId xmlns:a16="http://schemas.microsoft.com/office/drawing/2014/main" id="{7755CED2-7EDF-4BDC-AE42-D85519F0C6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6">
            <a:extLst xmlns:a="http://schemas.openxmlformats.org/drawingml/2006/main">
              <a:ext uri="{FF2B5EF4-FFF2-40B4-BE49-F238E27FC236}">
                <a16:creationId xmlns:a16="http://schemas.microsoft.com/office/drawing/2014/main" id="{DB4530E8-8FF3-40D4-BCEE-9080C0C54F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6">
            <a:extLst xmlns:a="http://schemas.openxmlformats.org/drawingml/2006/main">
              <a:ext uri="{FF2B5EF4-FFF2-40B4-BE49-F238E27FC236}">
                <a16:creationId xmlns:a16="http://schemas.microsoft.com/office/drawing/2014/main" id="{334C4FF5-B09D-47B9-BBB4-E2046C225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21ceec42a4424d"/>
    <p:sldLayoutId xmlns:r="http://schemas.openxmlformats.org/officeDocument/2006/relationships" id="2147483650" r:id="R621ea50da4854487"/>
    <p:sldLayoutId xmlns:r="http://schemas.openxmlformats.org/officeDocument/2006/relationships" id="2147483651" r:id="R4d0500ceba1a4c4b"/>
    <p:sldLayoutId xmlns:r="http://schemas.openxmlformats.org/officeDocument/2006/relationships" id="2147483652" r:id="R5fba825435bf45cf"/>
    <p:sldLayoutId xmlns:r="http://schemas.openxmlformats.org/officeDocument/2006/relationships" id="2147483653" r:id="R4f2d721cabce4d24"/>
    <p:sldLayoutId xmlns:r="http://schemas.openxmlformats.org/officeDocument/2006/relationships" id="2147483654" r:id="Re8ac85b3163243fe"/>
    <p:sldLayoutId xmlns:r="http://schemas.openxmlformats.org/officeDocument/2006/relationships" id="2147483655" r:id="R1c30a6681aa947e0"/>
    <p:sldLayoutId xmlns:r="http://schemas.openxmlformats.org/officeDocument/2006/relationships" id="2147483656" r:id="R7c6a5e10b13c4022"/>
    <p:sldLayoutId xmlns:r="http://schemas.openxmlformats.org/officeDocument/2006/relationships" id="2147483657" r:id="Rf4d33f264e204eb3"/>
    <p:sldLayoutId xmlns:r="http://schemas.openxmlformats.org/officeDocument/2006/relationships" id="2147483658" r:id="R81d7da1415d146dd"/>
    <p:sldLayoutId xmlns:r="http://schemas.openxmlformats.org/officeDocument/2006/relationships" id="2147483659" r:id="Rf901c6eef15442f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a824fd2c14835" /><Relationship Type="http://schemas.openxmlformats.org/officeDocument/2006/relationships/image" Target="/ppt/media/image2.png" Id="Rbde4bb1455ca456c" /><Relationship Type="http://schemas.openxmlformats.org/officeDocument/2006/relationships/notesSlide" Target="/ppt/notesSlides/notesSlide1.xml" Id="R5b0d00781b8a4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76ca242894655" /><Relationship Type="http://schemas.openxmlformats.org/officeDocument/2006/relationships/image" Target="/ppt/media/image3.png" Id="Rb68c1122835e4317" /><Relationship Type="http://schemas.openxmlformats.org/officeDocument/2006/relationships/image" Target="/ppt/media/image4.png" Id="Rd428c64713404204" /><Relationship Type="http://schemas.openxmlformats.org/officeDocument/2006/relationships/notesSlide" Target="/ppt/notesSlides/notesSlide2.xml" Id="R9442e06adb574d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76f2639454af1" /><Relationship Type="http://schemas.openxmlformats.org/officeDocument/2006/relationships/image" Target="/ppt/media/image5.png" Id="Re6041366b82e42ca" /><Relationship Type="http://schemas.openxmlformats.org/officeDocument/2006/relationships/notesSlide" Target="/ppt/notesSlides/notesSlide3.xml" Id="R4a3f1669c59b4b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00825708b248e4" /><Relationship Type="http://schemas.openxmlformats.org/officeDocument/2006/relationships/image" Target="/ppt/media/image6.png" Id="R007a902059614161" /><Relationship Type="http://schemas.openxmlformats.org/officeDocument/2006/relationships/notesSlide" Target="/ppt/notesSlides/notesSlide4.xml" Id="Raaba0c573dd04b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925581ee1495b" /><Relationship Type="http://schemas.openxmlformats.org/officeDocument/2006/relationships/notesSlide" Target="/ppt/notesSlides/notesSlide5.xml" Id="R4273276c63d04b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3c97742a124e67" /><Relationship Type="http://schemas.openxmlformats.org/officeDocument/2006/relationships/image" Target="/ppt/media/image7.png" Id="R8ecbd3e99f02491b" /><Relationship Type="http://schemas.openxmlformats.org/officeDocument/2006/relationships/image" Target="/ppt/media/image8.png" Id="R3fb48750f4bc4335" /><Relationship Type="http://schemas.openxmlformats.org/officeDocument/2006/relationships/notesSlide" Target="/ppt/notesSlides/notesSlide6.xml" Id="R72da2fed643d4f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">
            <a:extLst xmlns:a="http://schemas.openxmlformats.org/drawingml/2006/main">
              <a:ext uri="{FF2B5EF4-FFF2-40B4-BE49-F238E27FC236}">
                <a16:creationId xmlns:a16="http://schemas.microsoft.com/office/drawing/2014/main" id="{BBE74FAD-7391-4959-A0F5-B90FD8CF18D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932791" y="240236"/>
            <a:ext cx="9144000" cy="477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sz="4000">
                <a:solidFill>
                  <a:schemeClr val="dk2"/>
                </a:solidFill>
              </a:rPr>
              <a:t>𝓗𝓘𝓜𝓞𝓥𝓐𝓣𝓘𝓞𝓝 2026: 𝕊𝕠𝕝𝕧𝕖-𝕒-𝕋𝕙𝕠𝕟 </a:t>
            </a:r>
            <a:endParaRPr/>
          </a:p>
        </p:txBody>
      </p:sp>
      <p:sp>
        <p:nvSpPr>
          <p:cNvPr id="89" name="Google Shape;89;p1">
            <a:extLst xmlns:a="http://schemas.openxmlformats.org/drawingml/2006/main">
              <a:ext uri="{FF2B5EF4-FFF2-40B4-BE49-F238E27FC236}">
                <a16:creationId xmlns:a16="http://schemas.microsoft.com/office/drawing/2014/main" id="{759E6492-5B9E-44CA-886B-35EBF5FABE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1000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3225" b="1">
                <a:solidFill>
                  <a:srgbClr val="26344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25" b="1">
                <a:solidFill>
                  <a:srgbClr val="263445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263445"/>
                </a:solidFill>
                <a:latin typeface="Calibri"/>
                <a:ea typeface="Calibri"/>
                <a:cs typeface="Calibri"/>
              </a:rPr>
              <a:t>RakshaNetra AI</a:t>
            </a:r>
            <a:endParaRPr/>
          </a:p>
        </p:txBody>
      </p:sp>
      <p:pic>
        <p:nvPic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A8B2C958-11D6-488A-8596-9269C270A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e4bb1455ca45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3517" y="96818"/>
            <a:ext cx="1022773" cy="9274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1">
            <a:extLst xmlns:a="http://schemas.openxmlformats.org/drawingml/2006/main">
              <a:ext uri="{FF2B5EF4-FFF2-40B4-BE49-F238E27FC236}">
                <a16:creationId xmlns:a16="http://schemas.microsoft.com/office/drawing/2014/main" id="{AC793778-D2A2-47B6-A886-C692DE72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0001250" cy="197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 algn="l">
              <a:lnSpc>
                <a:spcPct val="104000"/>
              </a:lnSpc>
              <a:spcAft>
                <a:spcPts val="500"/>
              </a:spcAft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Theme: AI, ML &amp; Intelligent Systems</a:t>
            </a:r>
          </a:p>
          <a:p xmlns:a="http://schemas.openxmlformats.org/drawingml/2006/main">
            <a:pPr marL="254000" indent="-127000" algn="l">
              <a:lnSpc>
                <a:spcPct val="104000"/>
              </a:lnSpc>
              <a:spcAft>
                <a:spcPts val="500"/>
              </a:spcAft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Team: CodeScythe</a:t>
            </a:r>
          </a:p>
          <a:p xmlns:a="http://schemas.openxmlformats.org/drawingml/2006/main">
            <a:pPr marL="254000" indent="-127000" algn="l">
              <a:lnSpc>
                <a:spcPct val="104000"/>
              </a:lnSpc>
              <a:spcAft>
                <a:spcPts val="500"/>
              </a:spcAft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Lead: Prashant Krishan Bharti</a:t>
            </a:r>
          </a:p>
          <a:p xmlns:a="http://schemas.openxmlformats.org/drawingml/2006/main">
            <a:pPr marL="254000" indent="-127000" algn="l">
              <a:lnSpc>
                <a:spcPct val="104000"/>
              </a:lnSpc>
              <a:spcAft>
                <a:spcPts val="500"/>
              </a:spcAft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Team Members: Ritish Dhar, Aditya Rawat, Tabeer Hussain</a:t>
            </a:r>
          </a:p>
          <a:p xmlns:a="http://schemas.openxmlformats.org/drawingml/2006/main">
            <a:pPr marL="254000" indent="-127000" algn="l">
              <a:lnSpc>
                <a:spcPct val="104000"/>
              </a:lnSpc>
              <a:spcAft>
                <a:spcPts val="500"/>
              </a:spcAft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College: Tulas University</a:t>
            </a:r>
          </a:p>
          <a:p xmlns:a="http://schemas.openxmlformats.org/drawingml/2006/main">
            <a:pPr marL="254000" indent="-127000" algn="l">
              <a:lnSpc>
                <a:spcPct val="104000"/>
              </a:lnSpc>
              <a:spcAft>
                <a:spcPts val="500"/>
              </a:spcAft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Mentor: Not listed in the source PDF</a:t>
            </a:r>
          </a:p>
        </p:txBody>
      </p:sp>
      <p:sp>
        <p:nvSpPr>
          <p:cNvPr id="92" name="project-subtitle">
            <a:extLst xmlns:a="http://schemas.openxmlformats.org/drawingml/2006/main">
              <a:ext uri="{FF2B5EF4-FFF2-40B4-BE49-F238E27FC236}">
                <a16:creationId xmlns:a16="http://schemas.microsoft.com/office/drawing/2014/main" id="{F049D9B8-CBD8-43DE-88E8-4F02DF66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62100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1650" i="1">
                <a:solidFill>
                  <a:srgbClr val="263445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i="1">
                <a:solidFill>
                  <a:srgbClr val="26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i="1">
                <a:solidFill>
                  <a:srgbClr val="263445"/>
                </a:solidFill>
                <a:latin typeface="Times New Roman"/>
                <a:ea typeface="Times New Roman"/>
                <a:cs typeface="Times New Roman"/>
              </a:rPr>
              <a:t>AI-Assisted Semi-Autonomous Incident Response System</a:t>
            </a:r>
          </a:p>
        </p:txBody>
      </p:sp>
    </p:spTree>
    <p:extLst>
      <p:ext uri="{BB962C8B-B14F-4D97-AF65-F5344CB8AC3E}">
        <p14:creationId xmlns:p14="http://schemas.microsoft.com/office/powerpoint/2010/main" val="3983348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B8C2AA71-DE6F-401D-B5EB-74F113C7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 b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</a:p>
        </p:txBody>
      </p:sp>
      <p:sp>
        <p:nvSpPr>
          <p:cNvPr id="2" name="problem-summary">
            <a:extLst xmlns:a="http://schemas.openxmlformats.org/drawingml/2006/main">
              <a:ext uri="{FF2B5EF4-FFF2-40B4-BE49-F238E27FC236}">
                <a16:creationId xmlns:a16="http://schemas.microsoft.com/office/drawing/2014/main" id="{8BBB6134-B891-4B50-8100-042B726D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1095375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15900" indent="-101600" algn="l">
              <a:lnSpc>
                <a:spcPct val="104000"/>
              </a:lnSpc>
              <a:spcAft>
                <a:spcPts val="400"/>
              </a:spcAft>
              <a:buNone/>
              <a:defRPr sz="13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India has over 50 lakh CCTV cameras across public spaces, malls, housing societies and transit hubs. The source PDF cites an industry-reported VuFindr estimate that 73% of footage is never reviewed.</a:t>
            </a:r>
          </a:p>
          <a:p xmlns:a="http://schemas.openxmlformats.org/drawingml/2006/main">
            <a:pPr marL="215900" indent="-101600" algn="l">
              <a:lnSpc>
                <a:spcPct val="104000"/>
              </a:lnSpc>
              <a:spcAft>
                <a:spcPts val="400"/>
              </a:spcAft>
              <a:buNone/>
              <a:defRPr sz="13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Security staff can be overwhelmed or away from a live feed. By the time footage is reviewed, the opportunity for timely intervention may have passed.</a:t>
            </a:r>
          </a:p>
          <a:p xmlns:a="http://schemas.openxmlformats.org/drawingml/2006/main">
            <a:pPr marL="215900" indent="-101600" algn="l">
              <a:lnSpc>
                <a:spcPct val="104000"/>
              </a:lnSpc>
              <a:spcAft>
                <a:spcPts val="400"/>
              </a:spcAft>
              <a:buNone/>
              <a:defRPr sz="13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Automated violence detection remains challenging; Omarov et al. (2022) reviewed 80 papers and described continuing research gaps.</a:t>
            </a:r>
          </a:p>
          <a:p xmlns:a="http://schemas.openxmlformats.org/drawingml/2006/main">
            <a:pPr marL="215900" indent="-101600" algn="l">
              <a:lnSpc>
                <a:spcPct val="104000"/>
              </a:lnSpc>
              <a:spcAft>
                <a:spcPts val="400"/>
              </a:spcAft>
              <a:buNone/>
              <a:defRPr sz="13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SDG alignment: SDG 11 (Sustainable Cities and Communities) and SDG 16 (Peace, Justice and Strong Institutions).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9F971-4087-410F-BBA4-CCA9F60401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c1122835e4317"/>
          <a:stretch xmlns:a="http://schemas.openxmlformats.org/drawingml/2006/main"/>
        </p:blipFill>
        <p:spPr>
          <a:xfrm xmlns:a="http://schemas.openxmlformats.org/drawingml/2006/main">
            <a:off x="479288" y="3619500"/>
            <a:ext cx="6470924" cy="32385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A54A2-48B0-4382-B05F-260903DE7A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8c64713404204"/>
          <a:stretch xmlns:a="http://schemas.openxmlformats.org/drawingml/2006/main"/>
        </p:blipFill>
        <p:spPr>
          <a:xfrm xmlns:a="http://schemas.openxmlformats.org/drawingml/2006/main">
            <a:off x="7335334" y="3810000"/>
            <a:ext cx="3998332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448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6CC4EB87-ABFA-4E07-A6CD-4C32E096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3000" b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sp>
        <p:nvSpPr>
          <p:cNvPr id="2" name="solution-summary">
            <a:extLst xmlns:a="http://schemas.openxmlformats.org/drawingml/2006/main">
              <a:ext uri="{FF2B5EF4-FFF2-40B4-BE49-F238E27FC236}">
                <a16:creationId xmlns:a16="http://schemas.microsoft.com/office/drawing/2014/main" id="{7BA5EE72-2BAF-48C6-8875-B301EBC0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10953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15900" indent="-101600" algn="l">
              <a:lnSpc>
                <a:spcPct val="104000"/>
              </a:lnSpc>
              <a:spcAft>
                <a:spcPts val="500"/>
              </a:spcAft>
              <a:buNone/>
              <a:defRPr sz="142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RakshaNetra AI analyzes CCTV footage to identify potentially violent interactions, track people and interpret body movement in real time.</a:t>
            </a:r>
          </a:p>
          <a:p xmlns:a="http://schemas.openxmlformats.org/drawingml/2006/main">
            <a:pPr marL="215900" indent="-101600" algn="l">
              <a:lnSpc>
                <a:spcPct val="104000"/>
              </a:lnSpc>
              <a:spcAft>
                <a:spcPts val="500"/>
              </a:spcAft>
              <a:buNone/>
              <a:defRPr sz="142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It flags suspicious moments for human review, helping operators locate critical events without continuously watching every feed.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415AA-75F5-4A9C-9406-524C9E2144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41366b82e42ca"/>
          <a:stretch xmlns:a="http://schemas.openxmlformats.org/drawingml/2006/main"/>
        </p:blipFill>
        <p:spPr>
          <a:xfrm xmlns:a="http://schemas.openxmlformats.org/drawingml/2006/main">
            <a:off x="523875" y="2384732"/>
            <a:ext cx="11144250" cy="40887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671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4">
            <a:extLst xmlns:a="http://schemas.openxmlformats.org/drawingml/2006/main">
              <a:ext uri="{FF2B5EF4-FFF2-40B4-BE49-F238E27FC236}">
                <a16:creationId xmlns:a16="http://schemas.microsoft.com/office/drawing/2014/main" id="{F83E33C8-CDFE-453F-8DDA-D31A156BCA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90550" y="2381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TECHNICAL APPROACH &amp; FEASIBILITY</a:t>
            </a:r>
            <a:endParaRPr/>
          </a:p>
        </p:txBody>
      </p:sp>
      <p:sp>
        <p:nvSpPr>
          <p:cNvPr id="109" name="Google Shape;109;p4">
            <a:extLst xmlns:a="http://schemas.openxmlformats.org/drawingml/2006/main">
              <a:ext uri="{FF2B5EF4-FFF2-40B4-BE49-F238E27FC236}">
                <a16:creationId xmlns:a16="http://schemas.microsoft.com/office/drawing/2014/main" id="{D1E269AD-B926-4C24-BFDB-2D49E78C43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defPPr algn="r">
              <a:defRPr sz="120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  <a:defRPr sz="120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fld id="{EFD6AB9A-5F9E-5F59-51AB-3C8734130965}" type="slidenum">
              <a:rPr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10" name="Google Shape;110;p4">
            <a:extLst xmlns:a="http://schemas.openxmlformats.org/drawingml/2006/main">
              <a:ext uri="{FF2B5EF4-FFF2-40B4-BE49-F238E27FC236}">
                <a16:creationId xmlns:a16="http://schemas.microsoft.com/office/drawing/2014/main" id="{F3104DD6-0791-4948-A2A9-0187223F9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1200">
                <a:solidFill>
                  <a:srgbClr val="FFFFFF"/>
                </a:solidFill>
                <a:latin typeface="Oswald"/>
                <a:ea typeface="Oswald"/>
                <a:cs typeface="Oswald"/>
              </a:rPr>
              <a:t>INNOVATION 2026: Solve-a-Thon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9A44040-0855-4BEC-9C21-56B4F1B399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a902059614161"/>
          <a:stretch xmlns:a="http://schemas.openxmlformats.org/drawingml/2006/main"/>
        </p:blipFill>
        <p:spPr>
          <a:xfrm xmlns:a="http://schemas.openxmlformats.org/drawingml/2006/main">
            <a:off x="526724" y="1095375"/>
            <a:ext cx="11138553" cy="3714750"/>
          </a:xfrm>
          <a:prstGeom xmlns:a="http://schemas.openxmlformats.org/drawingml/2006/main" prst="rect">
            <a:avLst/>
          </a:prstGeom>
        </p:spPr>
      </p:pic>
      <p:sp>
        <p:nvSpPr>
          <p:cNvPr id="112" name="feasibility-summary">
            <a:extLst xmlns:a="http://schemas.openxmlformats.org/drawingml/2006/main">
              <a:ext uri="{FF2B5EF4-FFF2-40B4-BE49-F238E27FC236}">
                <a16:creationId xmlns:a16="http://schemas.microsoft.com/office/drawing/2014/main" id="{A3034A62-9E74-41FB-B6B5-06B9A494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0906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13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203200" indent="-101600" algn="l">
              <a:lnSpc>
                <a:spcPct val="104000"/>
              </a:lnSpc>
              <a:spcAft>
                <a:spcPts val="300"/>
              </a:spcAft>
              <a:buNone/>
              <a:defRPr sz="1313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Core models: YOLOv26m-Pose (17 keypoints), BoT-SORT tracking and ST-GCN++ over 100-frame sequences; an interaction graph combines pair scores into incident candidates.</a:t>
            </a:r>
          </a:p>
          <a:p xmlns:a="http://schemas.openxmlformats.org/drawingml/2006/main">
            <a:pPr marL="203200" indent="-101600" algn="l">
              <a:lnSpc>
                <a:spcPct val="104000"/>
              </a:lnSpc>
              <a:spcAft>
                <a:spcPts val="300"/>
              </a:spcAft>
              <a:buNone/>
              <a:defRPr sz="1313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Feasibility and risks: build on existing CCTV where feasible; use RWF-2000 and RLVS for planned training and evaluation. Test in stages, tune alert thresholds and require human confirmation to manage video quality, compute load and false alerts.</a:t>
            </a:r>
          </a:p>
        </p:txBody>
      </p:sp>
    </p:spTree>
    <p:extLst>
      <p:ext uri="{BB962C8B-B14F-4D97-AF65-F5344CB8AC3E}">
        <p14:creationId xmlns:p14="http://schemas.microsoft.com/office/powerpoint/2010/main" val="17605226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5">
            <a:extLst xmlns:a="http://schemas.openxmlformats.org/drawingml/2006/main">
              <a:ext uri="{FF2B5EF4-FFF2-40B4-BE49-F238E27FC236}">
                <a16:creationId xmlns:a16="http://schemas.microsoft.com/office/drawing/2014/main" id="{B71BE944-441E-4F1C-8409-65775C9849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defPPr algn="r">
              <a:defRPr sz="120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  <a:defRPr sz="120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fld id="{EE5B3003-2C54-13C6-9832-7637201064DE}" type="slidenum">
              <a:rPr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17" name="Google Shape;117;p5">
            <a:extLst xmlns:a="http://schemas.openxmlformats.org/drawingml/2006/main">
              <a:ext uri="{FF2B5EF4-FFF2-40B4-BE49-F238E27FC236}">
                <a16:creationId xmlns:a16="http://schemas.microsoft.com/office/drawing/2014/main" id="{BA0CDDF1-2BBC-48F1-ABB7-23B3A56B9C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INNOVATION 2026: Solve-a-Thon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18" name="Google Shape;118;p5">
            <a:extLst xmlns:a="http://schemas.openxmlformats.org/drawingml/2006/main">
              <a:ext uri="{FF2B5EF4-FFF2-40B4-BE49-F238E27FC236}">
                <a16:creationId xmlns:a16="http://schemas.microsoft.com/office/drawing/2014/main" id="{0F68A0AE-BA3B-448C-8663-9764D81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1032"/>
            <a:ext cx="12192000" cy="43192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solidFill xmlns:a="http://schemas.openxmlformats.org/drawingml/2006/main">
            <a:srgbClr val="D8E2F3"/>
          </a:solidFill>
          <a:ln xmlns:a="http://schemas.openxmlformats.org/drawingml/2006/main" w="38100" cap="flat" cmpd="sng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5">
            <a:extLst xmlns:a="http://schemas.openxmlformats.org/drawingml/2006/main">
              <a:ext uri="{FF2B5EF4-FFF2-40B4-BE49-F238E27FC236}">
                <a16:creationId xmlns:a16="http://schemas.microsoft.com/office/drawing/2014/main" id="{093AE72C-7B2F-4A34-B992-ED7FEAA9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2" y="1915454"/>
            <a:ext cx="11764736" cy="4070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19100" tIns="114300" rIns="209550" bIns="9525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Social impact: </a:t>
            </a: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Surfaces potential fights, falls, fire or smoke, weapons and unattended bags for human review across multiple feeds. It avoids facial recognition and automated judgments of guilt.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Economic impact: </a:t>
            </a: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Event-based notifications aim to reduce continuous manual monitoring and may help operators prioritize significant incidents. A modular design could integrate with existing CCTV infrastructure.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Environmental impact: </a:t>
            </a: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Earlier awareness of fire or smoke may support a faster response and limit property damage and associated material waste.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 audience: </a:t>
            </a: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and facility teams at campuses, universities, offices, public buildings and commercial sites, plus institutional administrators and control-room operators.</a:t>
            </a:r>
          </a:p>
        </p:txBody>
      </p:sp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33FF3DA6-5A0F-4A0D-8593-E850B10A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07066"/>
            <a:ext cx="8410540" cy="64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1" name="Google Shape;121;p5">
            <a:extLst xmlns:a="http://schemas.openxmlformats.org/drawingml/2006/main">
              <a:ext uri="{FF2B5EF4-FFF2-40B4-BE49-F238E27FC236}">
                <a16:creationId xmlns:a16="http://schemas.microsoft.com/office/drawing/2014/main" id="{6E23CADE-03DB-47D9-BC89-52C00C9E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43" y="1181900"/>
            <a:ext cx="9557657" cy="338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Human-supervised alerts across existing CCTV networks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2979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5">
            <a:extLst xmlns:a="http://schemas.openxmlformats.org/drawingml/2006/main">
              <a:ext uri="{FF2B5EF4-FFF2-40B4-BE49-F238E27FC236}">
                <a16:creationId xmlns:a16="http://schemas.microsoft.com/office/drawing/2014/main" id="{B71BE944-441E-4F1C-8409-65775C9849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defPPr algn="r">
              <a:defRPr sz="120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  <a:defRPr sz="120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fld id="{8C630A04-5A25-9E0C-9436-126091DB86B3}" type="slidenum">
              <a:rPr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17" name="Google Shape;117;p5">
            <a:extLst xmlns:a="http://schemas.openxmlformats.org/drawingml/2006/main">
              <a:ext uri="{FF2B5EF4-FFF2-40B4-BE49-F238E27FC236}">
                <a16:creationId xmlns:a16="http://schemas.microsoft.com/office/drawing/2014/main" id="{BA0CDDF1-2BBC-48F1-ABB7-23B3A56B9C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defPPr algn="ctr"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defPPr>
          </a:lstStyle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  <a:defRPr sz="120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</a:rPr>
              <a:t>INNOVATION 2026: Solve-a-Thon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18" name="Google Shape;118;p5">
            <a:extLst xmlns:a="http://schemas.openxmlformats.org/drawingml/2006/main">
              <a:ext uri="{FF2B5EF4-FFF2-40B4-BE49-F238E27FC236}">
                <a16:creationId xmlns:a16="http://schemas.microsoft.com/office/drawing/2014/main" id="{0F68A0AE-BA3B-448C-8663-9764D81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1032"/>
            <a:ext cx="12192000" cy="43192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solidFill xmlns:a="http://schemas.openxmlformats.org/drawingml/2006/main">
            <a:srgbClr val="D8E2F3"/>
          </a:solidFill>
          <a:ln xmlns:a="http://schemas.openxmlformats.org/drawingml/2006/main" w="38100" cap="flat" cmpd="sng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5">
            <a:extLst xmlns:a="http://schemas.openxmlformats.org/drawingml/2006/main">
              <a:ext uri="{FF2B5EF4-FFF2-40B4-BE49-F238E27FC236}">
                <a16:creationId xmlns:a16="http://schemas.microsoft.com/office/drawing/2014/main" id="{093AE72C-7B2F-4A34-B992-ED7FEAA9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2" y="1915454"/>
            <a:ext cx="11764736" cy="4070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/>
          </a:p>
        </p:txBody>
      </p:sp>
      <p:sp>
        <p:nvSpPr>
          <p:cNvPr id="120" name="Google Shape;120;p5">
            <a:extLst xmlns:a="http://schemas.openxmlformats.org/drawingml/2006/main">
              <a:ext uri="{FF2B5EF4-FFF2-40B4-BE49-F238E27FC236}">
                <a16:creationId xmlns:a16="http://schemas.microsoft.com/office/drawing/2014/main" id="{33FF3DA6-5A0F-4A0D-8593-E850B10A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07066"/>
            <a:ext cx="8410540" cy="64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rmAutofit fontScale="100000"/>
          </a:bodyPr>
          <a:lstStyle xmlns:a="http://schemas.openxmlformats.org/drawingml/2006/main"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PROTOTYPE &amp; RESEARCH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1" name="Google Shape;121;p5">
            <a:extLst xmlns:a="http://schemas.openxmlformats.org/drawingml/2006/main">
              <a:ext uri="{FF2B5EF4-FFF2-40B4-BE49-F238E27FC236}">
                <a16:creationId xmlns:a16="http://schemas.microsoft.com/office/drawing/2014/main" id="{6E23CADE-03DB-47D9-BC89-52C00C9E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43" y="1181900"/>
            <a:ext cx="9557657" cy="328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Illustrative dashboard, mobile alert, and research foundation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references-heading">
            <a:extLst xmlns:a="http://schemas.openxmlformats.org/drawingml/2006/main">
              <a:ext uri="{FF2B5EF4-FFF2-40B4-BE49-F238E27FC236}">
                <a16:creationId xmlns:a16="http://schemas.microsoft.com/office/drawing/2014/main" id="{39524B9C-F644-41A2-BD90-30544638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2880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&amp; REFERENCES</a:t>
            </a:r>
          </a:p>
        </p:txBody>
      </p:sp>
      <p:sp>
        <p:nvSpPr>
          <p:cNvPr id="123" name="research-references">
            <a:extLst xmlns:a="http://schemas.openxmlformats.org/drawingml/2006/main">
              <a:ext uri="{FF2B5EF4-FFF2-40B4-BE49-F238E27FC236}">
                <a16:creationId xmlns:a16="http://schemas.microsoft.com/office/drawing/2014/main" id="{761687AA-8B04-4ACB-B3CB-D4F49A7C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81225"/>
            <a:ext cx="4619625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19050" bIns="0" anchor="t">
            <a:normAutofit fontScale="100000"/>
          </a:bodyPr>
          <a:lstStyle xmlns:a="http://schemas.openxmlformats.org/drawingml/2006/main">
            <a:defPPr algn="l">
              <a:defRPr sz="1088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177800" indent="-88900" algn="l">
              <a:lnSpc>
                <a:spcPct val="104000"/>
              </a:lnSpc>
              <a:spcAft>
                <a:spcPts val="300"/>
              </a:spcAft>
              <a:buNone/>
              <a:defRPr sz="10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11111"/>
                </a:solidFill>
                <a:latin typeface="Arial"/>
                <a:ea typeface="Arial"/>
                <a:cs typeface="Arial"/>
              </a:rPr>
              <a:t>Omarov et al. (2022), “State-of-the-art Violence Detection Techniques in Video Surveillance Security Systems: A Systematic Review.” PeerJ Computer Science. https://doi.org/10.7717/peerj-cs.920</a:t>
            </a:r>
          </a:p>
          <a:p xmlns:a="http://schemas.openxmlformats.org/drawingml/2006/main">
            <a:pPr marL="177800" indent="-88900" algn="l">
              <a:lnSpc>
                <a:spcPct val="104000"/>
              </a:lnSpc>
              <a:spcAft>
                <a:spcPts val="300"/>
              </a:spcAft>
              <a:buNone/>
              <a:defRPr sz="10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11111"/>
                </a:solidFill>
                <a:latin typeface="Arial"/>
                <a:ea typeface="Arial"/>
                <a:cs typeface="Arial"/>
              </a:rPr>
              <a:t>Bhatti et al. (2021), “Weapon Detection in Real-Time CCTV Videos Using Deep Learning.” IEEE Access. https://doi.org/10.1109/ACCESS.2021.3059170</a:t>
            </a:r>
          </a:p>
          <a:p xmlns:a="http://schemas.openxmlformats.org/drawingml/2006/main">
            <a:pPr marL="177800" indent="-88900" algn="l">
              <a:lnSpc>
                <a:spcPct val="104000"/>
              </a:lnSpc>
              <a:spcAft>
                <a:spcPts val="300"/>
              </a:spcAft>
              <a:buNone/>
              <a:defRPr sz="10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11111"/>
                </a:solidFill>
                <a:latin typeface="Arial"/>
                <a:ea typeface="Arial"/>
                <a:cs typeface="Arial"/>
              </a:rPr>
              <a:t>Raza et al. (2025), “Human Fall Detection Using Pose Estimation: From Traditional Machine Learning to Vision Transformers.” Engineering Applications of AI. https://doi.org/10.1016/j.engappai.2024.109809</a:t>
            </a:r>
          </a:p>
          <a:p xmlns:a="http://schemas.openxmlformats.org/drawingml/2006/main">
            <a:pPr marL="177800" indent="-88900" algn="l">
              <a:lnSpc>
                <a:spcPct val="104000"/>
              </a:lnSpc>
              <a:spcAft>
                <a:spcPts val="300"/>
              </a:spcAft>
              <a:buNone/>
              <a:defRPr sz="10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11111"/>
                </a:solidFill>
                <a:latin typeface="Arial"/>
                <a:ea typeface="Arial"/>
                <a:cs typeface="Arial"/>
              </a:rPr>
              <a:t>Lin et al. (2015), “Abandoned Object Detection via Temporal Consistency Modeling and Back-Tracing Verification.” IEEE TIFS.</a:t>
            </a:r>
          </a:p>
          <a:p xmlns:a="http://schemas.openxmlformats.org/drawingml/2006/main">
            <a:pPr marL="177800" indent="-88900" algn="l">
              <a:lnSpc>
                <a:spcPct val="104000"/>
              </a:lnSpc>
              <a:spcAft>
                <a:spcPts val="300"/>
              </a:spcAft>
              <a:buNone/>
              <a:defRPr sz="10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11111"/>
                </a:solidFill>
                <a:latin typeface="Arial"/>
                <a:ea typeface="Arial"/>
                <a:cs typeface="Arial"/>
              </a:rPr>
              <a:t>YOLO-Pose documentation: https://docs.ultralytics.com/tasks/pose/</a:t>
            </a:r>
          </a:p>
          <a:p xmlns:a="http://schemas.openxmlformats.org/drawingml/2006/main">
            <a:pPr marL="177800" indent="-88900" algn="l">
              <a:lnSpc>
                <a:spcPct val="104000"/>
              </a:lnSpc>
              <a:spcAft>
                <a:spcPts val="300"/>
              </a:spcAft>
              <a:buNone/>
              <a:defRPr sz="10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11111"/>
                </a:solidFill>
                <a:latin typeface="Arial"/>
                <a:ea typeface="Arial"/>
                <a:cs typeface="Arial"/>
              </a:rPr>
              <a:t>ST-GCN++ configurations: https://github.com/kennymckormick/pyskl/tree/main/configs/stgcn%2B%2B</a:t>
            </a:r>
          </a:p>
          <a:p xmlns:a="http://schemas.openxmlformats.org/drawingml/2006/main">
            <a:pPr marL="177800" indent="-88900" algn="l">
              <a:lnSpc>
                <a:spcPct val="104000"/>
              </a:lnSpc>
              <a:spcAft>
                <a:spcPts val="300"/>
              </a:spcAft>
              <a:buNone/>
              <a:defRPr sz="1088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11111"/>
                </a:solidFill>
                <a:latin typeface="Arial"/>
                <a:ea typeface="Arial"/>
                <a:cs typeface="Arial"/>
              </a:rPr>
              <a:t>Related patent: https://patents.google.com/patent/WO2022193412A1/en</a:t>
            </a:r>
          </a:p>
        </p:txBody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38905D8-3C16-4F0C-9017-13DF25CD9B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bd3e99f02491b"/>
          <a:stretch xmlns:a="http://schemas.openxmlformats.org/drawingml/2006/main"/>
        </p:blipFill>
        <p:spPr>
          <a:xfrm xmlns:a="http://schemas.openxmlformats.org/drawingml/2006/main">
            <a:off x="495300" y="1955974"/>
            <a:ext cx="4762500" cy="2660303"/>
          </a:xfrm>
          <a:prstGeom xmlns:a="http://schemas.openxmlformats.org/drawingml/2006/main" prst="rect">
            <a:avLst/>
          </a:prstGeom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78D021F-0452-4E56-BB77-F6C58F5C40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48750f4bc4335"/>
          <a:stretch xmlns:a="http://schemas.openxmlformats.org/drawingml/2006/main"/>
        </p:blipFill>
        <p:spPr>
          <a:xfrm xmlns:a="http://schemas.openxmlformats.org/drawingml/2006/main">
            <a:off x="5381625" y="1954725"/>
            <a:ext cx="1428750" cy="2558024"/>
          </a:xfrm>
          <a:prstGeom xmlns:a="http://schemas.openxmlformats.org/drawingml/2006/main" prst="rect">
            <a:avLst/>
          </a:prstGeom>
        </p:spPr>
      </p:pic>
      <p:sp>
        <p:nvSpPr>
          <p:cNvPr id="126" name="dashboard-caption">
            <a:extLst xmlns:a="http://schemas.openxmlformats.org/drawingml/2006/main">
              <a:ext uri="{FF2B5EF4-FFF2-40B4-BE49-F238E27FC236}">
                <a16:creationId xmlns:a16="http://schemas.microsoft.com/office/drawing/2014/main" id="{65EB3AFD-8960-4C2B-ACDD-49C5BE1E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863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Prototype dashboard</a:t>
            </a:r>
          </a:p>
        </p:txBody>
      </p:sp>
      <p:sp>
        <p:nvSpPr>
          <p:cNvPr id="127" name="mobile-caption">
            <a:extLst xmlns:a="http://schemas.openxmlformats.org/drawingml/2006/main">
              <a:ext uri="{FF2B5EF4-FFF2-40B4-BE49-F238E27FC236}">
                <a16:creationId xmlns:a16="http://schemas.microsoft.com/office/drawing/2014/main" id="{D54285DA-04B1-434B-A3B7-25809235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572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Mobile alert</a:t>
            </a:r>
          </a:p>
        </p:txBody>
      </p:sp>
    </p:spTree>
    <p:extLst>
      <p:ext uri="{BB962C8B-B14F-4D97-AF65-F5344CB8AC3E}">
        <p14:creationId xmlns:p14="http://schemas.microsoft.com/office/powerpoint/2010/main" val="26629792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2026-10-13T18:03:26.7620000Z</dcterms:created>
  <dcterms:modified xsi:type="dcterms:W3CDTF">2026-10-13T18:03:26.7620000Z</dcterms:modified>
</coreProperties>
</file>